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5TzdqjCoE6sGa/tveoJfpZE+r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5.png"/><Relationship Id="rId5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超電脳サイバネティクス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SCSC Active Inference Humanoid Control System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脳が予測し、身体が動く。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0" y="3749040"/>
            <a:ext cx="2743200" cy="18288"/>
          </a:xfrm>
          <a:prstGeom prst="rect">
            <a:avLst/>
          </a:prstGeom>
          <a:solidFill>
            <a:srgbClr val="3D50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Phase 1 — 7 Progress Report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0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D5068"/>
                </a:solidFill>
                <a:latin typeface="Calibri"/>
                <a:ea typeface="Calibri"/>
                <a:cs typeface="Calibri"/>
                <a:sym typeface="Calibri"/>
              </a:rPr>
              <a:t>2026.02.20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VISION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solidFill>
            <a:srgbClr val="0F2039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22960" y="1234440"/>
            <a:ext cx="7498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Active Inference — 自由エネルギー原理に基づく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知覚と行動の統一的制御フレームワークで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ヒューマノイドロボットを動かす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14400" y="2880360"/>
            <a:ext cx="237744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080" y="3017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1005840" y="35661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知覚推論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05840" y="388620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パーティクルフィルタで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環境の内部モデルを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リアルタイム更新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0" y="2880360"/>
            <a:ext cx="237744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3017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3749040" y="35661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行動選択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749040" y="388620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期待自由エネルギー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(EFE) を最小化する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行動を選択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0" y="2880360"/>
            <a:ext cx="237744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0" y="3017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6492240" y="356616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身体制御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92240" y="388620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17軸サーボを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協調制御し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全身運動を実現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PLATFORM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57200" y="114300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57200" y="114300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1417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548640" y="20116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認知層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23317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Jetson AGX Orin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40080" y="2834640"/>
            <a:ext cx="2286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64GB LPDDR5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2048 CUDA コア (SM 8.7)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275 TOPS AI 推論性能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337560" y="114300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337560" y="1143000"/>
            <a:ext cx="26517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417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3429000" y="20116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駆動層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429000" y="23317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Teensy 4.1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520440" y="2834640"/>
            <a:ext cx="2286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Cortex-M7 600MHz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リアルタイム 100Hz制御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ICS 3.5 半二重UART ×2ch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217920" y="114300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217920" y="1143000"/>
            <a:ext cx="265176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3760" y="1417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6309360" y="20116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身体層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309360" y="23317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Manoi PF01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00800" y="2834640"/>
            <a:ext cx="2286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KRS-4024S HV ×17軸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ICS 3.5 プロトコル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二足歩行ヒューマノイド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DEVELOPMENT TIMELINE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Phase 1 — 7 の歩み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4"/>
          <p:cNvCxnSpPr/>
          <p:nvPr/>
        </p:nvCxnSpPr>
        <p:spPr>
          <a:xfrm>
            <a:off x="640080" y="2606040"/>
            <a:ext cx="7863840" cy="0"/>
          </a:xfrm>
          <a:prstGeom prst="straightConnector1">
            <a:avLst/>
          </a:prstGeom>
          <a:noFill/>
          <a:ln cap="flat" cmpd="sng" w="25400">
            <a:solidFill>
              <a:srgbClr val="3D50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4"/>
          <p:cNvSpPr/>
          <p:nvPr/>
        </p:nvSpPr>
        <p:spPr>
          <a:xfrm>
            <a:off x="804672" y="2331720"/>
            <a:ext cx="502920" cy="502920"/>
          </a:xfrm>
          <a:prstGeom prst="ellipse">
            <a:avLst/>
          </a:prstGeom>
          <a:solidFill>
            <a:srgbClr val="3D50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04672" y="2331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8EDF3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" y="2971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環境構築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329184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Jetson Orin セットアップ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CUDA / OpenCV / TensorRT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947672" y="2331720"/>
            <a:ext cx="502920" cy="502920"/>
          </a:xfrm>
          <a:prstGeom prst="ellipse">
            <a:avLst/>
          </a:prstGeom>
          <a:solidFill>
            <a:srgbClr val="3D50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947672" y="2331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8EDF3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645920" y="2971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視覚パイプライン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600200" y="329184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カメラキャプチャ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顔検出 DNN 統合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090672" y="2331720"/>
            <a:ext cx="502920" cy="502920"/>
          </a:xfrm>
          <a:prstGeom prst="ellipse">
            <a:avLst/>
          </a:prstGeom>
          <a:solidFill>
            <a:srgbClr val="3D50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090672" y="2331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8EDF3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788920" y="2971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AIF 基盤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743200" y="329184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Active Inference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パーティクルフィルタ設計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233672" y="2331720"/>
            <a:ext cx="502920" cy="502920"/>
          </a:xfrm>
          <a:prstGeom prst="ellipse">
            <a:avLst/>
          </a:prstGeom>
          <a:solidFill>
            <a:srgbClr val="3D50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233672" y="2331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8EDF3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931920" y="2971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CUDA 高速化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886200" y="329184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GPU パーティクルフィルタ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リアルタイム推論実現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376672" y="2331720"/>
            <a:ext cx="502920" cy="502920"/>
          </a:xfrm>
          <a:prstGeom prst="ellipse">
            <a:avLst/>
          </a:prstGeom>
          <a:solidFill>
            <a:srgbClr val="3D50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5376672" y="2331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8EDF3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074920" y="2971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ICS サーボ統合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029200" y="329184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KRS サーボ通信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フィードバックループ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519672" y="233172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519672" y="2331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217920" y="2971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顔追従 2軸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172200" y="329184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Pan/Tilt 追従制御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AIF 閉ループ完成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662672" y="233172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662672" y="2331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360920" y="2971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全身 17軸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315200" y="329184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Teensy 分離設計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フルボディ制御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Phase 6 で AIF 閉ループ制御を実証  →  Phase 7 で 17軸全身制御に拡張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45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PHASE 6 — 顔追従 Active Inference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7200" y="1097280"/>
            <a:ext cx="4206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57200" y="1097280"/>
            <a:ext cx="42062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73152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AIF 閉ループ制御の実証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18745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1097280" y="18288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カメラ 30fps からリアルタイム顔検出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3774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1097280" y="23317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パーティクルフィルタによる顔位置の確率的推定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880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1097280" y="28346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EFE 最小化で Pan/Tilt 2軸の追従指令を生成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3832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1097280" y="33375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Jetson AGX Orin の GPU で全推論を高速実行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8862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1097280" y="38404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サーボフィードバックを観測に統合した閉ループ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937760" y="1097280"/>
            <a:ext cx="3840480" cy="3749040"/>
          </a:xfrm>
          <a:prstGeom prst="rect">
            <a:avLst/>
          </a:prstGeom>
          <a:solidFill>
            <a:srgbClr val="0F2039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120640" y="1280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制御ループ構造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212080" y="1783080"/>
            <a:ext cx="3291840" cy="41148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349240" y="181051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Camera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583680" y="18105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30fps 顔検出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675120" y="21671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0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D506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212080" y="2331720"/>
            <a:ext cx="3291840" cy="41148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349240" y="235915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Observer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583680" y="23591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観測ベクトル生成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675120" y="271576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0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D506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212080" y="2880360"/>
            <a:ext cx="3291840" cy="41148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349240" y="290779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Particle Filter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583680" y="290779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5000粒子で状態推定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675120" y="326440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0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D506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212080" y="3429000"/>
            <a:ext cx="3291840" cy="41148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5349240" y="345643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EFE Planner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583680" y="345643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行動候補の評価・選択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675120" y="381304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06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D506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212080" y="3977640"/>
            <a:ext cx="3291840" cy="41148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5349240" y="400507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Servo Cmd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583680" y="400507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Pan/Tilt 角速度指令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1005840" y="2286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PHASE 7 — 全身 17軸 Active Inference 制御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48640" y="868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Phase 6 からの進化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57200" y="1234440"/>
            <a:ext cx="3931920" cy="137160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640080" y="12801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7B8CA3"/>
                </a:solidFill>
                <a:latin typeface="Trebuchet MS"/>
                <a:ea typeface="Trebuchet MS"/>
                <a:cs typeface="Trebuchet MS"/>
                <a:sym typeface="Trebuchet MS"/>
              </a:rPr>
              <a:t>Phase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22960" y="15544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0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5068"/>
                </a:solidFill>
                <a:latin typeface="Calibri"/>
                <a:ea typeface="Calibri"/>
                <a:cs typeface="Calibri"/>
                <a:sym typeface="Calibri"/>
              </a:rPr>
              <a:t>2軸（Pan / Tilt）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22960" y="180136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0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5068"/>
                </a:solidFill>
                <a:latin typeface="Calibri"/>
                <a:ea typeface="Calibri"/>
                <a:cs typeface="Calibri"/>
                <a:sym typeface="Calibri"/>
              </a:rPr>
              <a:t>状態空間 8次元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22960" y="2048256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0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5068"/>
                </a:solidFill>
                <a:latin typeface="Calibri"/>
                <a:ea typeface="Calibri"/>
                <a:cs typeface="Calibri"/>
                <a:sym typeface="Calibri"/>
              </a:rPr>
              <a:t>1グループ制御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22960" y="2295144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0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5068"/>
                </a:solidFill>
                <a:latin typeface="Calibri"/>
                <a:ea typeface="Calibri"/>
                <a:cs typeface="Calibri"/>
                <a:sym typeface="Calibri"/>
              </a:rPr>
              <a:t>単体 Jetson 構成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1600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4754880" y="1234440"/>
            <a:ext cx="3931920" cy="1371600"/>
          </a:xfrm>
          <a:prstGeom prst="rect">
            <a:avLst/>
          </a:prstGeom>
          <a:solidFill>
            <a:srgbClr val="162944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937760" y="12801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Phase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120640" y="155448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17軸 全身協調制御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120640" y="180136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状態空間 38次元 / 行動空間 17次元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120640" y="2048256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5グループ 階層的行動計画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120640" y="2295144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Jetson + Teensy 分散アーキテクチャ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48640" y="2834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5 Joint Groups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3200400"/>
            <a:ext cx="1554480" cy="150876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57200" y="3200400"/>
            <a:ext cx="15544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502920" y="32918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02920" y="36118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1軸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02920" y="40233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Pan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176272" y="3200400"/>
            <a:ext cx="1554480" cy="150876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2176272" y="3200400"/>
            <a:ext cx="15544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2221992" y="32918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L-ARM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221992" y="36118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3軸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221992" y="40233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Sh Pitch/Roll, Elbow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895344" y="3200400"/>
            <a:ext cx="1554480" cy="150876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3895344" y="3200400"/>
            <a:ext cx="15544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3941064" y="32918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R-ARM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941064" y="36118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3軸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941064" y="40233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Sh Pitch/Roll, Elbow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614416" y="3200400"/>
            <a:ext cx="1554480" cy="150876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5614416" y="3200400"/>
            <a:ext cx="15544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660136" y="32918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L-LEG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660136" y="36118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5軸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660136" y="40233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Hip P/R, Knee, Ank P/R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7333488" y="3200400"/>
            <a:ext cx="1554480" cy="150876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7333488" y="3200400"/>
            <a:ext cx="15544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7379208" y="32918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R-LEG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7379208" y="36118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5軸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379208" y="40233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Hip P/R, Knee, Ank P/R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45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65760" y="1051560"/>
            <a:ext cx="41148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365760" y="1051560"/>
            <a:ext cx="4114800" cy="457200"/>
          </a:xfrm>
          <a:prstGeom prst="rect">
            <a:avLst/>
          </a:prstGeom>
          <a:solidFill>
            <a:srgbClr val="00A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Jetson AGX Orin — 推論層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94360" y="1664208"/>
            <a:ext cx="3657600" cy="3657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685800" y="1682496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3CC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A3CC"/>
                </a:solidFill>
                <a:latin typeface="Trebuchet MS"/>
                <a:ea typeface="Trebuchet MS"/>
                <a:cs typeface="Trebuchet MS"/>
                <a:sym typeface="Trebuchet MS"/>
              </a:rPr>
              <a:t>M1-M2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371600" y="168249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カメラ + 顔検出 (30fps)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94360" y="2139696"/>
            <a:ext cx="3657600" cy="3657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85800" y="215798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3CC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A3CC"/>
                </a:solidFill>
                <a:latin typeface="Trebuchet MS"/>
                <a:ea typeface="Trebuchet MS"/>
                <a:cs typeface="Trebuchet MS"/>
                <a:sym typeface="Trebuchet MS"/>
              </a:rPr>
              <a:t>M3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371600" y="215798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観測ベクトル構築 (39次元)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94360" y="2615184"/>
            <a:ext cx="3657600" cy="3657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85800" y="2633472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3CC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A3CC"/>
                </a:solidFill>
                <a:latin typeface="Trebuchet MS"/>
                <a:ea typeface="Trebuchet MS"/>
                <a:cs typeface="Trebuchet MS"/>
                <a:sym typeface="Trebuchet MS"/>
              </a:rPr>
              <a:t>M4-M5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371600" y="263347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生成モデル + パーティクルフィルタ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94360" y="3090672"/>
            <a:ext cx="3657600" cy="3657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85800" y="31089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3CC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A3CC"/>
                </a:solidFill>
                <a:latin typeface="Trebuchet MS"/>
                <a:ea typeface="Trebuchet MS"/>
                <a:cs typeface="Trebuchet MS"/>
                <a:sym typeface="Trebuchet MS"/>
              </a:rPr>
              <a:t>M6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1371600" y="31089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EFE プランナ (2段階評価)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94360" y="3566160"/>
            <a:ext cx="3657600" cy="3657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685800" y="358444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3CC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A3CC"/>
                </a:solidFill>
                <a:latin typeface="Trebuchet MS"/>
                <a:ea typeface="Trebuchet MS"/>
                <a:cs typeface="Trebuchet MS"/>
                <a:sym typeface="Trebuchet MS"/>
              </a:rPr>
              <a:t>M7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371600" y="358444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AIF 統合エンジン (CUDA)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94360" y="4041648"/>
            <a:ext cx="3657600" cy="3657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85800" y="4059936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3CC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A3CC"/>
                </a:solidFill>
                <a:latin typeface="Trebuchet MS"/>
                <a:ea typeface="Trebuchet MS"/>
                <a:cs typeface="Trebuchet MS"/>
                <a:sym typeface="Trebuchet MS"/>
              </a:rPr>
              <a:t>M10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371600" y="405993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安全監視 (4段階)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480560" y="2560320"/>
            <a:ext cx="64008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4480560" y="257860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lang="en-US" sz="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480560" y="28803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100Hz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5120640" y="1051560"/>
            <a:ext cx="365760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5120640" y="1051560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5303520" y="10972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Teensy 4.1 — リアルタイム層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349240" y="1664208"/>
            <a:ext cx="32004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5440680" y="1682496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ICS 2ch UART サーボ制御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349240" y="2103120"/>
            <a:ext cx="32004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5440680" y="2121408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IMU 軽量 EKF (6状態)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349240" y="2542032"/>
            <a:ext cx="32004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5440680" y="2560320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ZMP 計測 + 即時バランス補正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349240" y="2980944"/>
            <a:ext cx="32004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5440680" y="2999232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センサフュージョン + 接地検出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120640" y="3749040"/>
            <a:ext cx="36576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5120640" y="3749040"/>
            <a:ext cx="3657600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5303520" y="37947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Manoi PF01 — KRS-4024S HV ×17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440680" y="42519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ICS 3.5 半二重 UART ×2ch (左右分離)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492240" y="35204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ICS ×2ch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BY THE NUMBERS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548640" y="123444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5,000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548640" y="1874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particles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48640" y="2194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パーティクルフィルタ粒子数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3337560" y="1051560"/>
            <a:ext cx="2651760" cy="16916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3429000" y="123444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38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3429000" y="1874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dimensions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429000" y="2194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状態空間次元数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217920" y="1051560"/>
            <a:ext cx="2651760" cy="16916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6309360" y="123444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17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309360" y="1874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309360" y="2194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全身関節軸数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57200" y="2971800"/>
            <a:ext cx="2651760" cy="16916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48640" y="315468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100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48640" y="37947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Hz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48640" y="41148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推論制御周期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337560" y="2971800"/>
            <a:ext cx="2651760" cy="16916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3429000" y="315468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&lt; 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429000" y="37947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429000" y="41148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Teensy バランス補正レイテンシ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217920" y="2971800"/>
            <a:ext cx="2651760" cy="169164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6309360" y="315468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4.5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309360" y="37947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6309360" y="41148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Teensy CPU使用率 (残り93%はDMA)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45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9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SAFETY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457200" y="1097280"/>
            <a:ext cx="19659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457200" y="1097280"/>
            <a:ext cx="1965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548640" y="12801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L0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548640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NORMAL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48640" y="214884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全軸正常動作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全パラメータ許容範囲内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2606040" y="1097280"/>
            <a:ext cx="19659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2606040" y="1097280"/>
            <a:ext cx="1965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2697480" y="12801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L1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2697480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SOFT LIMIT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2697480" y="214884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関節角度 90% 超過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速度制限を自動適用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4754880" y="1097280"/>
            <a:ext cx="19659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4754880" y="1097280"/>
            <a:ext cx="19659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4846320" y="12801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L2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846320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SOFT STOP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846320" y="214884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過電流 1500mA 超過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or EFE 異常検知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6903720" y="1097280"/>
            <a:ext cx="19659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6903720" y="1097280"/>
            <a:ext cx="19659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6995160" y="12801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L3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6995160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HARD STOP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995160" y="214884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通信タイムアウト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緊急停止信号を送信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548640" y="3749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2332"/>
                </a:solidFill>
                <a:latin typeface="Trebuchet MS"/>
                <a:ea typeface="Trebuchet MS"/>
                <a:cs typeface="Trebuchet MS"/>
                <a:sym typeface="Trebuchet MS"/>
              </a:rPr>
              <a:t>常時監視項目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7" name="Google Shape;3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1605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9"/>
          <p:cNvSpPr/>
          <p:nvPr/>
        </p:nvSpPr>
        <p:spPr>
          <a:xfrm>
            <a:off x="822960" y="41422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関節角度リミット (90%)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9" name="Google Shape;3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45312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9"/>
          <p:cNvSpPr/>
          <p:nvPr/>
        </p:nvSpPr>
        <p:spPr>
          <a:xfrm>
            <a:off x="822960" y="44348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サーボ負荷電流 (1500mA)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1" name="Google Shape;3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74573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9"/>
          <p:cNvSpPr/>
          <p:nvPr/>
        </p:nvSpPr>
        <p:spPr>
          <a:xfrm>
            <a:off x="822960" y="47274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位置誤差 (0.35 rad)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3" name="Google Shape;31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41605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/>
          <p:nvPr/>
        </p:nvSpPr>
        <p:spPr>
          <a:xfrm>
            <a:off x="5212080" y="41422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EFE 異常値 (閾値 5000)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445312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9"/>
          <p:cNvSpPr/>
          <p:nvPr/>
        </p:nvSpPr>
        <p:spPr>
          <a:xfrm>
            <a:off x="5212080" y="44348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ハートビート (200ms)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3" name="Google Shape;3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0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EFE PLANNER — 2段階行動計画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457200" y="1005840"/>
            <a:ext cx="3931920" cy="324612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Stage 1: グループ独立評価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777240" y="16002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5グループ × 16候補 = 80行動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777240" y="20116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各グループの EFE を GPU 並列計算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777240" y="24231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グループ毎に Top-4 を選抜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777240" y="28346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計算量: O(グループ数 × 候補数)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40080" y="32918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80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2377440" y="3383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→  20 候補に絞込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3" name="Google Shape;3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23774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0"/>
          <p:cNvSpPr/>
          <p:nvPr/>
        </p:nvSpPr>
        <p:spPr>
          <a:xfrm>
            <a:off x="4754880" y="1005840"/>
            <a:ext cx="3931920" cy="3246120"/>
          </a:xfrm>
          <a:prstGeom prst="rect">
            <a:avLst/>
          </a:prstGeom>
          <a:solidFill>
            <a:srgbClr val="1629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Stage 2: 全身統合評価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5074920" y="16002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Top-K の組合せから 64候補を生成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5074920" y="20116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全グループ統合で EFE を再評価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074920" y="24231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Softmax で確率的に最終行動を選択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5074920" y="28346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温度パラメータで探索/活用を調整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4937760" y="32918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64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6675120" y="3383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Calibri"/>
                <a:ea typeface="Calibri"/>
                <a:cs typeface="Calibri"/>
                <a:sym typeface="Calibri"/>
              </a:rPr>
              <a:t>→  1 最適行動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F20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全探索 4^5 = 1,024 通りの組合せ空間を 2段階評価で効率的に探索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45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1"/>
          <p:cNvSpPr/>
          <p:nvPr/>
        </p:nvSpPr>
        <p:spPr>
          <a:xfrm>
            <a:off x="1005840" y="1371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STATUS &amp; NEXT STEPS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457200" y="1051560"/>
            <a:ext cx="402336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457200" y="1051560"/>
            <a:ext cx="402336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640080" y="1188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0E676"/>
                </a:solidFill>
                <a:latin typeface="Trebuchet MS"/>
                <a:ea typeface="Trebuchet MS"/>
                <a:cs typeface="Trebuchet MS"/>
                <a:sym typeface="Trebuchet MS"/>
              </a:rPr>
              <a:t>完了済み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5" name="Google Shape;3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600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1"/>
          <p:cNvSpPr/>
          <p:nvPr/>
        </p:nvSpPr>
        <p:spPr>
          <a:xfrm>
            <a:off x="914400" y="15727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Jetson CUDA AIF 推論エンジン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7" name="Google Shape;35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93852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1"/>
          <p:cNvSpPr/>
          <p:nvPr/>
        </p:nvSpPr>
        <p:spPr>
          <a:xfrm>
            <a:off x="914400" y="191109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38次元状態 × 5000粒子 フィルタ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9" name="Google Shape;35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2768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1"/>
          <p:cNvSpPr/>
          <p:nvPr/>
        </p:nvSpPr>
        <p:spPr>
          <a:xfrm>
            <a:off x="914400" y="224942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2段階 EFE プランナ (GPU並列)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1" name="Google Shape;36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6151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1"/>
          <p:cNvSpPr/>
          <p:nvPr/>
        </p:nvSpPr>
        <p:spPr>
          <a:xfrm>
            <a:off x="914400" y="258775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4段階 安全監視システム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3" name="Google Shape;36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9535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1"/>
          <p:cNvSpPr/>
          <p:nvPr/>
        </p:nvSpPr>
        <p:spPr>
          <a:xfrm>
            <a:off x="914400" y="2926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マルチスレッド実行環境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5" name="Google Shape;3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32918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1"/>
          <p:cNvSpPr/>
          <p:nvPr/>
        </p:nvSpPr>
        <p:spPr>
          <a:xfrm>
            <a:off x="914400" y="326440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Loopback テスト完走 (2000 step)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7" name="Google Shape;36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36301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1"/>
          <p:cNvSpPr/>
          <p:nvPr/>
        </p:nvSpPr>
        <p:spPr>
          <a:xfrm>
            <a:off x="914400" y="360273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Teensy 分離アーキテクチャ設計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9" name="Google Shape;3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39684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1"/>
          <p:cNvSpPr/>
          <p:nvPr/>
        </p:nvSpPr>
        <p:spPr>
          <a:xfrm>
            <a:off x="914400" y="394106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ICS 3.5 インターフェース PCB 設計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1" name="Google Shape;37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43068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1"/>
          <p:cNvSpPr/>
          <p:nvPr/>
        </p:nvSpPr>
        <p:spPr>
          <a:xfrm>
            <a:off x="914400" y="427939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pan表示改善 (角度 + 速度併記)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4663440" y="1051560"/>
            <a:ext cx="402336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4663440" y="1051560"/>
            <a:ext cx="40233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4846320" y="1188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Phase 7-4 以降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4846320" y="16276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5303520" y="16093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Teensy 4.1 購入・PCB 半田付け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846320" y="199339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5303520" y="19751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ICS ファームウェア実装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846320" y="235915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5303520" y="23408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Jetson ↔ Teensy UART 通信テスト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4846320" y="272491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303520" y="270662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ICS サーボ 1軸→17軸 実機テスト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4846320" y="309067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中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5303520" y="307238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IMU (BNO055) センサフュージョン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4846320" y="34564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中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5303520" y="34381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FSR 足圧センサ ZMP 実装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4846320" y="382219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中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5303520" y="38039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ZMP 軌道計画 (Jetson 側)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4846320" y="418795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7B8CA3"/>
                </a:solidFill>
                <a:latin typeface="Trebuchet MS"/>
                <a:ea typeface="Trebuchet MS"/>
                <a:cs typeface="Trebuchet MS"/>
                <a:sym typeface="Trebuchet MS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5303520" y="41696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実機歩行テスト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8" name="Google Shape;3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10972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2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超電脳サイバネティクス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Active Inference で、ロボットに「考える身体」を。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3200400" y="3703320"/>
            <a:ext cx="2743200" cy="18288"/>
          </a:xfrm>
          <a:prstGeom prst="rect">
            <a:avLst/>
          </a:prstGeom>
          <a:solidFill>
            <a:srgbClr val="3D50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914400" y="39319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Trebuchet MS"/>
                <a:ea typeface="Trebuchet MS"/>
                <a:cs typeface="Trebuchet MS"/>
                <a:sym typeface="Trebuchet MS"/>
              </a:rPr>
              <a:t>17軸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2468880" y="39319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Trebuchet MS"/>
                <a:ea typeface="Trebuchet MS"/>
                <a:cs typeface="Trebuchet MS"/>
                <a:sym typeface="Trebuchet MS"/>
              </a:rPr>
              <a:t>38次元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4023360" y="39319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Trebuchet MS"/>
                <a:ea typeface="Trebuchet MS"/>
                <a:cs typeface="Trebuchet MS"/>
                <a:sym typeface="Trebuchet MS"/>
              </a:rPr>
              <a:t>5000粒子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5577840" y="39319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Trebuchet MS"/>
                <a:ea typeface="Trebuchet MS"/>
                <a:cs typeface="Trebuchet MS"/>
                <a:sym typeface="Trebuchet MS"/>
              </a:rPr>
              <a:t>100Hz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7132320" y="39319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CA3"/>
              </a:buClr>
              <a:buSzPts val="1300"/>
              <a:buFont typeface="Trebuchet MS"/>
              <a:buNone/>
            </a:pPr>
            <a:r>
              <a:rPr b="0" i="0" lang="en-US" sz="1300" u="none" cap="none" strike="noStrike">
                <a:solidFill>
                  <a:srgbClr val="7B8CA3"/>
                </a:solidFill>
                <a:latin typeface="Trebuchet MS"/>
                <a:ea typeface="Trebuchet MS"/>
                <a:cs typeface="Trebuchet MS"/>
                <a:sym typeface="Trebuchet MS"/>
              </a:rPr>
              <a:t>CUDA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2026-02-20T05:29:30Z</dcterms:created>
  <dc:creator>超電脳サイバネティクス</dc:creator>
</cp:coreProperties>
</file>